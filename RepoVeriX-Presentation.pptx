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0"/>
            <a:ext cx="8531352" cy="32004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320040"/>
            <a:ext cx="3959352" cy="384048"/>
          </a:xfrm>
          <a:prstGeom prst="rect">
            <a:avLst/>
          </a:prstGeom>
          <a:solidFill>
            <a:srgbClr val="071428"/>
          </a:solidFill>
          <a:ln w="9525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1960" y="3474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C7FF"/>
                </a:solidFill>
                <a:latin typeface="Calibri"/>
              </a:rPr>
              <a:t>● Research Prototype  ·  Project Evaluation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 i="0">
                <a:solidFill>
                  <a:srgbClr val="FFFFFF"/>
                </a:solidFill>
                <a:latin typeface="Calibri"/>
              </a:rPr>
              <a:t>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77724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4F9EFF"/>
                </a:solidFill>
                <a:latin typeface="Calibri"/>
              </a:rPr>
              <a:t>VeriX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A9ABF"/>
                </a:solidFill>
                <a:latin typeface="Calibri"/>
              </a:rPr>
              <a:t>Evidence-Grounded Repository-Level Code Auditing &amp; Verified Automated Repair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84648" y="2926080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3035808"/>
            <a:ext cx="1805940" cy="292608"/>
          </a:xfrm>
          <a:prstGeom prst="rect">
            <a:avLst/>
          </a:prstGeom>
          <a:solidFill>
            <a:srgbClr val="071222"/>
          </a:solidFill>
          <a:ln w="9525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054096"/>
            <a:ext cx="16962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9EFF"/>
                </a:solidFill>
                <a:latin typeface="Calibri"/>
              </a:rPr>
              <a:t>Static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8940" y="3035808"/>
            <a:ext cx="2189988" cy="292608"/>
          </a:xfrm>
          <a:prstGeom prst="rect">
            <a:avLst/>
          </a:prstGeom>
          <a:solidFill>
            <a:srgbClr val="071222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3804" y="3054096"/>
            <a:ext cx="20802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Evidence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6088" y="3035808"/>
            <a:ext cx="1613916" cy="292608"/>
          </a:xfrm>
          <a:prstGeom prst="rect">
            <a:avLst/>
          </a:prstGeom>
          <a:solidFill>
            <a:srgbClr val="071222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1" y="3054096"/>
            <a:ext cx="15041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  <a:latin typeface="Calibri"/>
              </a:rPr>
              <a:t>LLM Reasoning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7164" y="3035808"/>
            <a:ext cx="2189988" cy="292608"/>
          </a:xfrm>
          <a:prstGeom prst="rect">
            <a:avLst/>
          </a:prstGeom>
          <a:solidFill>
            <a:srgbClr val="071222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2027" y="3054096"/>
            <a:ext cx="20802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Docker Verification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54312" y="3035808"/>
            <a:ext cx="2189988" cy="292608"/>
          </a:xfrm>
          <a:prstGeom prst="rect">
            <a:avLst/>
          </a:prstGeom>
          <a:solidFill>
            <a:srgbClr val="071222"/>
          </a:solidFill>
          <a:ln w="9525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3054096"/>
            <a:ext cx="20802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9EFF"/>
                </a:solidFill>
                <a:latin typeface="Calibri"/>
              </a:rPr>
              <a:t>Tree-sitter Parsing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520440"/>
            <a:ext cx="2743200" cy="118872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611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F9E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ABF"/>
                </a:solidFill>
                <a:latin typeface="Calibri"/>
              </a:rPr>
              <a:t>PIPELINE STAGES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520440"/>
            <a:ext cx="2743200" cy="118872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611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4D399"/>
                </a:solidFill>
                <a:latin typeface="Calibri"/>
              </a:rPr>
              <a:t>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ABF"/>
                </a:solidFill>
                <a:latin typeface="Calibri"/>
              </a:rPr>
              <a:t>BACKEND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520440"/>
            <a:ext cx="2743200" cy="118872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611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78BFA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ABF"/>
                </a:solidFill>
                <a:latin typeface="Calibri"/>
              </a:rPr>
              <a:t>AUDIT CONFIGS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A4565"/>
                </a:solidFill>
                <a:latin typeface="Calibri"/>
              </a:rPr>
              <a:t>The LLM proposes. Evidence and execution verify.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01 —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The Gap in Code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9ABF"/>
                </a:solidFill>
                <a:latin typeface="Calibri"/>
              </a:rPr>
              <a:t>Modern tools either over-trust AI or ignore it. Neither approach is rigorous for real auditing.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5623560" cy="2011680"/>
          </a:xfrm>
          <a:prstGeom prst="rect">
            <a:avLst/>
          </a:prstGeom>
          <a:solidFill>
            <a:srgbClr val="1A0D0D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LLM-Only Hallucinations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78608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AF5"/>
                </a:solidFill>
                <a:latin typeface="Calibri"/>
              </a:rPr>
              <a:t>Language models fabricate vulnerabilities, produce unfounded claims,
and generate patches that don't fix anything — no way to know until damage is done.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011680"/>
            <a:ext cx="5623560" cy="2011680"/>
          </a:xfrm>
          <a:prstGeom prst="rect">
            <a:avLst/>
          </a:prstGeom>
          <a:solidFill>
            <a:srgbClr val="1A1505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Static-Only Blind Spots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78608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AF5"/>
                </a:solidFill>
                <a:latin typeface="Calibri"/>
              </a:rPr>
              <a:t>Traditional static analyzers miss cross-file, inter-function data flows,
context-dependent vulnerabilities, and complex taint propagation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97680"/>
            <a:ext cx="5623560" cy="2011680"/>
          </a:xfrm>
          <a:prstGeom prst="rect">
            <a:avLst/>
          </a:prstGeom>
          <a:solidFill>
            <a:srgbClr val="1A0D0D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Unverified Repairs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8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AF5"/>
                </a:solidFill>
                <a:latin typeface="Calibri"/>
              </a:rPr>
              <a:t>AI-generated patches are rarely executed before being trusted.
A 'fix' that introduces new bugs or fails tests is worse than no fix at 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297680"/>
            <a:ext cx="5623560" cy="2011680"/>
          </a:xfrm>
          <a:prstGeom prst="rect">
            <a:avLst/>
          </a:prstGeom>
          <a:solidFill>
            <a:srgbClr val="1A1505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434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No Repository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864608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AF5"/>
                </a:solidFill>
                <a:latin typeface="Calibri"/>
              </a:rPr>
              <a:t>File-level analysis misses how data flows across the codebase —
from HTTP handler to database query through multiple intermediate functions.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02 — CORE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The Central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1828800"/>
          </a:xfrm>
          <a:prstGeom prst="rect">
            <a:avLst/>
          </a:prstGeom>
          <a:solidFill>
            <a:srgbClr val="09162A"/>
          </a:solidFill>
          <a:ln w="9525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77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"The </a:t>
            </a:r>
            <a:r>
              <a:rPr sz="2200" b="1">
                <a:solidFill>
                  <a:srgbClr val="6AC7FF"/>
                </a:solidFill>
                <a:latin typeface="Calibri"/>
              </a:rPr>
              <a:t>LLM proposes</a:t>
            </a:r>
            <a:r>
              <a:rPr sz="2200" b="1">
                <a:solidFill>
                  <a:srgbClr val="FFFFFF"/>
                </a:solidFill>
                <a:latin typeface="Calibri"/>
              </a:rPr>
              <a:t>; </a:t>
            </a:r>
            <a:r>
              <a:rPr sz="2200" b="1">
                <a:solidFill>
                  <a:srgbClr val="6AC7FF"/>
                </a:solidFill>
                <a:latin typeface="Calibri"/>
              </a:rPr>
              <a:t>evidence and execution</a:t>
            </a:r>
            <a:r>
              <a:rPr sz="2200" b="1">
                <a:solidFill>
                  <a:srgbClr val="FFFFFF"/>
                </a:solidFill>
                <a:latin typeface="Calibri"/>
              </a:rPr>
              <a:t> verify."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429000"/>
            <a:ext cx="3657600" cy="24231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🔍  Findings Need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  <a:latin typeface="Calibri"/>
              </a:rPr>
              <a:t>A finding is only reported when repository
&amp; static evidence supports the LLM claim.
Ungrounded claims are rejected, not shown.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429000"/>
            <a:ext cx="3657600" cy="24231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520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⚙️  Repairs Need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06908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  <a:latin typeface="Calibri"/>
              </a:rPr>
              <a:t>A patch is only trusted after it passes
tests, static checks, and re-analysis inside
an isolated Docker sandbox.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429000"/>
            <a:ext cx="3657600" cy="24231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📊  Metrics Need Real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06908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  <a:latin typeface="Calibri"/>
              </a:rPr>
              <a:t>Benchmark numbers are empty until real
experiment runs populate them.
No numbers are fabricated or estimated.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03 —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44752"/>
            <a:ext cx="1664208" cy="123444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48132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F9EFF"/>
                </a:solidFill>
                <a:latin typeface="Courier New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1764792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213055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ABF"/>
                </a:solidFill>
                <a:latin typeface="Calibri"/>
              </a:rPr>
              <a:t>GitHub / ZIP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2536" y="19202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ABF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3976" y="1444752"/>
            <a:ext cx="1664208" cy="123444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148132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F9EFF"/>
                </a:solidFill>
                <a:latin typeface="Courier New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1764792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13055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ABF"/>
                </a:solidFill>
                <a:latin typeface="Calibri"/>
              </a:rPr>
              <a:t>Tree-sitter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9202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ABF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67911" y="1444752"/>
            <a:ext cx="1664208" cy="123444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3631" y="148132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F9EFF"/>
                </a:solidFill>
                <a:latin typeface="Courier New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1764792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Static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1" y="213055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ABF"/>
                </a:solidFill>
                <a:latin typeface="Calibri"/>
              </a:rPr>
              <a:t>Built-in + ruff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7" y="19202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ABF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41848" y="1444752"/>
            <a:ext cx="1664208" cy="123444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87568" y="148132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F9EFF"/>
                </a:solidFill>
                <a:latin typeface="Courier New"/>
              </a:rPr>
              <a:t>STAGE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1764792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Knowledge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213055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ABF"/>
                </a:solidFill>
                <a:latin typeface="Calibri"/>
              </a:rPr>
              <a:t>Cross-file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19202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ABF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15783" y="1444752"/>
            <a:ext cx="1664208" cy="123444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148132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F9EFF"/>
                </a:solidFill>
                <a:latin typeface="Courier New"/>
              </a:rPr>
              <a:t>STAGE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1764792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213055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ABF"/>
                </a:solidFill>
                <a:latin typeface="Calibri"/>
              </a:rPr>
              <a:t>GPT/Claude/Gemini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9202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AB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19" y="1444752"/>
            <a:ext cx="1664208" cy="123444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48132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F9EFF"/>
                </a:solidFill>
                <a:latin typeface="Courier New"/>
              </a:rPr>
              <a:t>STAGE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764792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Evidence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13055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ABF"/>
                </a:solidFill>
                <a:latin typeface="Calibri"/>
              </a:rPr>
              <a:t>VERIFIED/PROBABLE/
REJECTED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816352"/>
            <a:ext cx="11548872" cy="429768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889504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MODULE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2889504"/>
            <a:ext cx="9235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RESPONSIBILITY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46120"/>
            <a:ext cx="11548872" cy="429768"/>
          </a:xfrm>
          <a:prstGeom prst="rect">
            <a:avLst/>
          </a:prstGeom>
          <a:solidFill>
            <a:srgbClr val="09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319272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C7FF"/>
                </a:solidFill>
                <a:latin typeface="Courier New"/>
              </a:rPr>
              <a:t>detectors.py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330098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AF5"/>
                </a:solidFill>
                <a:latin typeface="Calibri"/>
              </a:rPr>
              <a:t>Deterministic built-in rules: SQL injection, hardcoded secrets, command injection, eval, weak hashes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666744"/>
            <a:ext cx="11274552" cy="1828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3675887"/>
            <a:ext cx="11548872" cy="42976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749039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C7FF"/>
                </a:solidFill>
                <a:latin typeface="Courier New"/>
              </a:rPr>
              <a:t>knowledge.py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730751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AF5"/>
                </a:solidFill>
                <a:latin typeface="Calibri"/>
              </a:rPr>
              <a:t>Symbol graph + import/call resolution for cross-file context and taint propagation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096511"/>
            <a:ext cx="11274552" cy="1828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4105656"/>
            <a:ext cx="11548872" cy="429768"/>
          </a:xfrm>
          <a:prstGeom prst="rect">
            <a:avLst/>
          </a:prstGeom>
          <a:solidFill>
            <a:srgbClr val="09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178808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C7FF"/>
                </a:solidFill>
                <a:latin typeface="Courier New"/>
              </a:rPr>
              <a:t>evidence.py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41605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AF5"/>
                </a:solidFill>
                <a:latin typeface="Calibri"/>
              </a:rPr>
              <a:t>Converts candidates + LLM assessment → VERIFIED / PROBABLE / REJECTED findings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526280"/>
            <a:ext cx="11274552" cy="1828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535424"/>
            <a:ext cx="11548872" cy="42976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608576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C7FF"/>
                </a:solidFill>
                <a:latin typeface="Courier New"/>
              </a:rPr>
              <a:t>verify.py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45902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AF5"/>
                </a:solidFill>
                <a:latin typeface="Calibri"/>
              </a:rPr>
              <a:t>Docker-sandboxed verification: apply patch → tests → re-analysis → verdict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956048"/>
            <a:ext cx="11274552" cy="1828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4965192"/>
            <a:ext cx="11548872" cy="429768"/>
          </a:xfrm>
          <a:prstGeom prst="rect">
            <a:avLst/>
          </a:prstGeom>
          <a:solidFill>
            <a:srgbClr val="09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038344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C7FF"/>
                </a:solidFill>
                <a:latin typeface="Courier New"/>
              </a:rPr>
              <a:t>repair.py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5020055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AF5"/>
                </a:solidFill>
                <a:latin typeface="Calibri"/>
              </a:rPr>
              <a:t>Deterministic rule templates first; LLM repair fallback with strict validation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385816"/>
            <a:ext cx="11274552" cy="1828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040" y="5394959"/>
            <a:ext cx="11548872" cy="42976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468112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C7FF"/>
                </a:solidFill>
                <a:latin typeface="Courier New"/>
              </a:rPr>
              <a:t>orchestrate.py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14600" y="5449823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AF5"/>
                </a:solidFill>
                <a:latin typeface="Calibri"/>
              </a:rPr>
              <a:t>Scan pipeline per experimental configuration; persists AnalysisRun rows per stage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815583"/>
            <a:ext cx="11274552" cy="1828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04 —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What RepoVeriX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481328"/>
            <a:ext cx="3657600" cy="15087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1572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📥  Safe Repo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193852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GitHub clone or ZIP upload with path-traversal guards, size limits, magic-byte validation. Never mutates original.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2715768"/>
            <a:ext cx="1005840" cy="201168"/>
          </a:xfrm>
          <a:prstGeom prst="rect">
            <a:avLst/>
          </a:prstGeom>
          <a:solidFill>
            <a:srgbClr val="07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2734056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4D399"/>
                </a:solidFill>
                <a:latin typeface="Calibri"/>
              </a:rPr>
              <a:t>SECURITY-FIRST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481328"/>
            <a:ext cx="3657600" cy="15087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572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🌲  Tree-sitter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193852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Cross-language AST (Python/JS/TS): functions, classes, imports, call sites, decorators with exact locations.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2715768"/>
            <a:ext cx="1005840" cy="201168"/>
          </a:xfrm>
          <a:prstGeom prst="rect">
            <a:avLst/>
          </a:prstGeom>
          <a:solidFill>
            <a:srgbClr val="07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1" y="2734056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F9EFF"/>
                </a:solidFill>
                <a:latin typeface="Calibri"/>
              </a:rPr>
              <a:t>3 LANGUAGES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3" y="1481328"/>
            <a:ext cx="3657600" cy="15087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572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🔎  Deterministic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93852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Built-in rules (RVX-SQLI-001…) for SQL injection, secrets, command injection, eval, weak hashes. Zero LLM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7031" y="2715768"/>
            <a:ext cx="1005840" cy="201168"/>
          </a:xfrm>
          <a:prstGeom prst="rect">
            <a:avLst/>
          </a:prstGeom>
          <a:solidFill>
            <a:srgbClr val="07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734056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4D399"/>
                </a:solidFill>
                <a:latin typeface="Calibri"/>
              </a:rPr>
              <a:t>ZERO HALLUCINATION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172968"/>
            <a:ext cx="3657600" cy="15087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264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🧠  LLM with Context Bounds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6301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Small context package per candidate only — never the whole repo. Secrets redacted before any LLM call.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4407408"/>
            <a:ext cx="1005840" cy="201168"/>
          </a:xfrm>
          <a:prstGeom prst="rect">
            <a:avLst/>
          </a:prstGeom>
          <a:solidFill>
            <a:srgbClr val="14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4425696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78BFA"/>
                </a:solidFill>
                <a:latin typeface="Calibri"/>
              </a:rPr>
              <a:t>PRIVACY-SAFE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2816" y="3172968"/>
            <a:ext cx="3657600" cy="15087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3264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🔗  Evidence Chains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36301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Every finding: source_input → transformation → sink → call_relationship → static_analysis → llm_reasoning.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52544" y="4407408"/>
            <a:ext cx="1005840" cy="201168"/>
          </a:xfrm>
          <a:prstGeom prst="rect">
            <a:avLst/>
          </a:prstGeom>
          <a:solidFill>
            <a:srgbClr val="07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1" y="4425696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4D399"/>
                </a:solidFill>
                <a:latin typeface="Calibri"/>
              </a:rPr>
              <a:t>EXPLAINABLE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7303" y="3172968"/>
            <a:ext cx="3657600" cy="15087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3264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🐳  Docker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6301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Patches run inside Docker with CPU/memory/time limits, no host secrets. Tests + re-analysis required for VERIFIED REPAIR.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57031" y="4407408"/>
            <a:ext cx="1005840" cy="201168"/>
          </a:xfrm>
          <a:prstGeom prst="rect">
            <a:avLst/>
          </a:prstGeom>
          <a:solidFill>
            <a:srgbClr val="07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4425696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4D399"/>
                </a:solidFill>
                <a:latin typeface="Calibri"/>
              </a:rPr>
              <a:t>EXECUTION-PROVEN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" y="4864608"/>
            <a:ext cx="3657600" cy="15087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" y="49560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🌐  Website Audits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" y="53218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Bounded same-origin crawl: SEO, security headers, accessibility, performance, AI-search-readiness signals.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" y="6099048"/>
            <a:ext cx="1005840" cy="201168"/>
          </a:xfrm>
          <a:prstGeom prst="rect">
            <a:avLst/>
          </a:prstGeom>
          <a:solidFill>
            <a:srgbClr val="07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" y="6117336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F9EFF"/>
                </a:solidFill>
                <a:latin typeface="Calibri"/>
              </a:rPr>
              <a:t>BONUS FEATURE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42816" y="4864608"/>
            <a:ext cx="3657600" cy="15087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52544" y="49560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📋  Benchmark Framework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2544" y="53218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Seeded vulnerable repos, ground truth, experiment runner, precision/recall/F1 across 4 configurations.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52544" y="6099048"/>
            <a:ext cx="1005840" cy="201168"/>
          </a:xfrm>
          <a:prstGeom prst="rect">
            <a:avLst/>
          </a:prstGeom>
          <a:solidFill>
            <a:srgbClr val="14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0831" y="6117336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78BFA"/>
                </a:solidFill>
                <a:latin typeface="Calibri"/>
              </a:rPr>
              <a:t>RESEARCH-GRADE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7303" y="4864608"/>
            <a:ext cx="3657600" cy="150876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7031" y="49560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📄  Reproducible 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7031" y="53218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JSON and Markdown reports with full reproducibility metadata: analyzer/prompt/LLM/tool versions, commit hash.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57031" y="6099048"/>
            <a:ext cx="1005840" cy="201168"/>
          </a:xfrm>
          <a:prstGeom prst="rect">
            <a:avLst/>
          </a:prstGeom>
          <a:solidFill>
            <a:srgbClr val="07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19" y="6117336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F9EFF"/>
                </a:solidFill>
                <a:latin typeface="Calibri"/>
              </a:rPr>
              <a:t>AUDIT TRAIL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05 — EVIDENCE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The Evidence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9ABF"/>
                </a:solidFill>
                <a:latin typeface="Calibri"/>
              </a:rPr>
              <a:t>Every finding is a data structure, not a prose claim. The LLM is never the validator — only a contributor.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10360152" cy="658368"/>
          </a:xfrm>
          <a:prstGeom prst="rect">
            <a:avLst/>
          </a:prstGeom>
          <a:solidFill>
            <a:srgbClr val="071228"/>
          </a:solidFill>
          <a:ln w="9525">
            <a:solidFill>
              <a:srgbClr val="6A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93976"/>
            <a:ext cx="777240" cy="347472"/>
          </a:xfrm>
          <a:prstGeom prst="rect">
            <a:avLst/>
          </a:prstGeom>
          <a:solidFill>
            <a:srgbClr val="071228"/>
          </a:solidFill>
          <a:ln w="9525">
            <a:solidFill>
              <a:srgbClr val="6A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396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AC7FF"/>
                </a:solidFill>
                <a:latin typeface="Courier New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source_input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5000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Untrusted data enters the system — route parameter, request field, user upload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15768"/>
            <a:ext cx="10360152" cy="658368"/>
          </a:xfrm>
          <a:prstGeom prst="rect">
            <a:avLst/>
          </a:prstGeom>
          <a:solidFill>
            <a:srgbClr val="181404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843784"/>
            <a:ext cx="777240" cy="347472"/>
          </a:xfrm>
          <a:prstGeom prst="rect">
            <a:avLst/>
          </a:prstGeom>
          <a:solidFill>
            <a:srgbClr val="181404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88950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Courier New"/>
              </a:rPr>
              <a:t>XFORM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07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99815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Data is mutated — string concatenation, f-string interpolation, format()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65575"/>
            <a:ext cx="10360152" cy="658368"/>
          </a:xfrm>
          <a:prstGeom prst="rect">
            <a:avLst/>
          </a:prstGeom>
          <a:solidFill>
            <a:srgbClr val="1A0D0D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593591"/>
            <a:ext cx="777240" cy="347472"/>
          </a:xfrm>
          <a:prstGeom prst="rect">
            <a:avLst/>
          </a:prstGeom>
          <a:solidFill>
            <a:srgbClr val="1A0D0D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63931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7171"/>
                </a:solidFill>
                <a:latin typeface="Courier New"/>
              </a:rPr>
              <a:t>SINK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5570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849624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Dangerous operation reached — SQL execute, shell exec, eval, subprocess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215383"/>
            <a:ext cx="10360152" cy="658368"/>
          </a:xfrm>
          <a:prstGeom prst="rect">
            <a:avLst/>
          </a:prstGeom>
          <a:solidFill>
            <a:srgbClr val="140D2A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4343399"/>
            <a:ext cx="777240" cy="347472"/>
          </a:xfrm>
          <a:prstGeom prst="rect">
            <a:avLst/>
          </a:prstGeom>
          <a:solidFill>
            <a:srgbClr val="140D2A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  <a:latin typeface="Courier New"/>
              </a:rP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30682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llm_reasoning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99431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Model structured assessment — never a verdict alone; must be corroborated by static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62432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A4565"/>
                </a:solidFill>
                <a:latin typeface="Calibri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37413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A4565"/>
                </a:solidFill>
                <a:latin typeface="Calibri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12394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A4565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" y="5166360"/>
            <a:ext cx="3474720" cy="914400"/>
          </a:xfrm>
          <a:prstGeom prst="rect">
            <a:avLst/>
          </a:prstGeom>
          <a:solidFill>
            <a:srgbClr val="05181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257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✓  VERIFIED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687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F"/>
                </a:solidFill>
                <a:latin typeface="Calibri"/>
              </a:rPr>
              <a:t>Strong evidence chain established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8" y="5166360"/>
            <a:ext cx="3474720" cy="914400"/>
          </a:xfrm>
          <a:prstGeom prst="rect">
            <a:avLst/>
          </a:prstGeom>
          <a:solidFill>
            <a:srgbClr val="1A1505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5257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Calibri"/>
              </a:rPr>
              <a:t>◑  PROBABLE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687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F"/>
                </a:solidFill>
                <a:latin typeface="Calibri"/>
              </a:rPr>
              <a:t>Suggestive but incomplete chain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9288" y="5166360"/>
            <a:ext cx="3474720" cy="914400"/>
          </a:xfrm>
          <a:prstGeom prst="rect">
            <a:avLst/>
          </a:prstGeom>
          <a:solidFill>
            <a:srgbClr val="1A0D0D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5257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  <a:latin typeface="Calibri"/>
              </a:rPr>
              <a:t>✗  REJECTED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5687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F"/>
                </a:solidFill>
                <a:latin typeface="Calibri"/>
              </a:rPr>
              <a:t>Insufficient evidence — not shown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06 — VERIFICATION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How Repairs Are Proven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98448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9ABF"/>
                </a:solidFill>
                <a:latin typeface="Calibri"/>
              </a:rPr>
              <a:t>AI generates a patch; execution determines if it can be trusted. Tests passing alone never declare success.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772400" cy="658368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1975104"/>
            <a:ext cx="347472" cy="347472"/>
          </a:xfrm>
          <a:prstGeom prst="ellipse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98424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901952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Isolated Sandbox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94560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Original repository is never touched. A throwaway copy is created per verification 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78608"/>
            <a:ext cx="7772400" cy="658368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2724912"/>
            <a:ext cx="347472" cy="347472"/>
          </a:xfrm>
          <a:prstGeom prst="ellipse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73405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65176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Apply Unified Diff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944368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patchops validates the diff, rejects paths escaping the sandbox, raises error on hunk mismatch.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28415"/>
            <a:ext cx="7772400" cy="658368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792" y="3474720"/>
            <a:ext cx="347472" cy="347472"/>
          </a:xfrm>
          <a:prstGeom prst="ellipse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48386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401568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Static Checks vs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694176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ruff runs on changed files; only newly introduced issues fail — pre-existing issues elsewhere don't block.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78224"/>
            <a:ext cx="7772400" cy="658368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792" y="4224528"/>
            <a:ext cx="347472" cy="347472"/>
          </a:xfrm>
          <a:prstGeom prst="ellipse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4233672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151376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Tests in Docker Runner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443984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CPU + memory + time limits. No host secrets. pytest installed inside container. JUnit XML parsed per test.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28032"/>
            <a:ext cx="7772400" cy="658368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1792" y="4974336"/>
            <a:ext cx="347472" cy="347472"/>
          </a:xfrm>
          <a:prstGeom prst="ellipse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498348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901184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Re-Analysis of Original Finding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193792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Built-in detectors re-run on patched file. Repair succeeds ONLY when the original rule no longer fires.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Security Guarantees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2212848"/>
            <a:ext cx="13716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5360" y="2331720"/>
            <a:ext cx="3200400" cy="438912"/>
          </a:xfrm>
          <a:prstGeom prst="rect">
            <a:avLst/>
          </a:prstGeom>
          <a:solidFill>
            <a:srgbClr val="05181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24231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No host secrets in container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2862072"/>
            <a:ext cx="3200400" cy="438912"/>
          </a:xfrm>
          <a:prstGeom prst="rect">
            <a:avLst/>
          </a:prstGeom>
          <a:solidFill>
            <a:srgbClr val="05181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2953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CPU / memory / time limits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3392424"/>
            <a:ext cx="3200400" cy="438912"/>
          </a:xfrm>
          <a:prstGeom prst="rect">
            <a:avLst/>
          </a:prstGeom>
          <a:solidFill>
            <a:srgbClr val="05181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348386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Sandbox deleted after 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3922776"/>
            <a:ext cx="3200400" cy="438912"/>
          </a:xfrm>
          <a:prstGeom prst="rect">
            <a:avLst/>
          </a:prstGeom>
          <a:solidFill>
            <a:srgbClr val="05181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401421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No original repo mutation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4453128"/>
            <a:ext cx="3200400" cy="438912"/>
          </a:xfrm>
          <a:prstGeom prst="rect">
            <a:avLst/>
          </a:prstGeom>
          <a:solidFill>
            <a:srgbClr val="05181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45445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Controlled 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07 —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Built With Modern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11548872" cy="64008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618488"/>
            <a:ext cx="1097280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56232" y="1645920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Next.js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618488"/>
            <a:ext cx="1097280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645920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618488"/>
            <a:ext cx="1252728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645920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Tailwind 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4688" y="1618488"/>
            <a:ext cx="1019556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645920"/>
            <a:ext cx="873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shadcn/ui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5684" y="1618488"/>
            <a:ext cx="1408176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8836" y="1645920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TanStack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76272"/>
            <a:ext cx="11548872" cy="64008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408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2331720"/>
            <a:ext cx="1175004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56232" y="2359152"/>
            <a:ext cx="10287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Python 3.12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9524" y="2331720"/>
            <a:ext cx="864108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2676" y="2359152"/>
            <a:ext cx="717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FastAPI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05072" y="2331720"/>
            <a:ext cx="1175004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2359152"/>
            <a:ext cx="10287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Pydantic v2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71516" y="2331720"/>
            <a:ext cx="1252728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4668" y="2359152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SQLAlchemy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15684" y="2331720"/>
            <a:ext cx="864108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8836" y="2359152"/>
            <a:ext cx="717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9EFF"/>
                </a:solidFill>
                <a:latin typeface="Calibri"/>
              </a:rPr>
              <a:t>asyncpg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889504"/>
            <a:ext cx="11548872" cy="64008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0540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3080" y="3044952"/>
            <a:ext cx="1097280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56232" y="3072384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PostgreSQL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71800" y="3044952"/>
            <a:ext cx="1252728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44952" y="3072384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SQLite (dev)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5968" y="3044952"/>
            <a:ext cx="864108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072384"/>
            <a:ext cx="717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Alembic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602736"/>
            <a:ext cx="11548872" cy="64008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7673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AI / LLM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83080" y="3758184"/>
            <a:ext cx="786384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56232" y="37856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OpenAI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60904" y="3758184"/>
            <a:ext cx="1019556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34056" y="3785615"/>
            <a:ext cx="873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Anthropic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71900" y="3758184"/>
            <a:ext cx="786384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5052" y="37856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Gemini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49724" y="3758184"/>
            <a:ext cx="1330452" cy="301752"/>
          </a:xfrm>
          <a:prstGeom prst="rect">
            <a:avLst/>
          </a:prstGeom>
          <a:solidFill>
            <a:srgbClr val="071228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22876" y="3785615"/>
            <a:ext cx="11841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Mock provider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315968"/>
            <a:ext cx="11548872" cy="64008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4805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PARSING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83080" y="4471416"/>
            <a:ext cx="1175004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56232" y="4498848"/>
            <a:ext cx="10287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Tree-sitter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49524" y="4471416"/>
            <a:ext cx="1563624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22676" y="44988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Python / JS / 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029200"/>
            <a:ext cx="11548872" cy="64008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193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EXECUTION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83080" y="5184648"/>
            <a:ext cx="1408176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56232" y="5212080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Docker sandbox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82696" y="5184648"/>
            <a:ext cx="630936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55848" y="5212080"/>
            <a:ext cx="484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ruff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05072" y="5184648"/>
            <a:ext cx="786384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4" y="52120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bandit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82896" y="5184648"/>
            <a:ext cx="786384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56048" y="52120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pytest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742431"/>
            <a:ext cx="11548872" cy="64008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907023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DEPLOY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83080" y="5897879"/>
            <a:ext cx="1408176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56232" y="592531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Docker Compose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82696" y="5897879"/>
            <a:ext cx="864108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55848" y="5925312"/>
            <a:ext cx="717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Railway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38244" y="5897879"/>
            <a:ext cx="786384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11396" y="59253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Render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16068" y="5897879"/>
            <a:ext cx="1175004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89220" y="5925312"/>
            <a:ext cx="10287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Nginx/Caddy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82512" y="5897879"/>
            <a:ext cx="1019556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55664" y="5925312"/>
            <a:ext cx="873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GitHub CI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6455663"/>
            <a:ext cx="11548872" cy="64008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662025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AUTH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83080" y="6611111"/>
            <a:ext cx="553212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56232" y="6638543"/>
            <a:ext cx="4069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JWT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7732" y="6611111"/>
            <a:ext cx="786384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00884" y="6638543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bcrypt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05556" y="6611111"/>
            <a:ext cx="1408176" cy="301752"/>
          </a:xfrm>
          <a:prstGeom prst="rect">
            <a:avLst/>
          </a:prstGeom>
          <a:solidFill>
            <a:srgbClr val="0D1526"/>
          </a:solidFill>
          <a:ln w="6350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78708" y="6638543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AF5"/>
                </a:solidFill>
                <a:latin typeface="Calibri"/>
              </a:rPr>
              <a:t>OAuth2 / Auth0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08 —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Research Questions &amp;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5532120" cy="114300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9EFF"/>
                </a:solidFill>
                <a:latin typeface="Courier New"/>
              </a:rPr>
              <a:t>RQ1 —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AF5"/>
                </a:solidFill>
                <a:latin typeface="Calibri"/>
              </a:rPr>
              <a:t>Does repository-level context improve LLM defect detection?
→ Compare llm_only vs repoverix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32120" cy="114300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5544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9EFF"/>
                </a:solidFill>
                <a:latin typeface="Courier New"/>
              </a:rPr>
              <a:t>RQ2 — Hybrid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74520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AF5"/>
                </a:solidFill>
                <a:latin typeface="Calibri"/>
              </a:rPr>
              <a:t>Does static + LLM beat LLM-only precision/recall?
→ Compare llm_only vs static_llm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24912"/>
            <a:ext cx="5532120" cy="114300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9EFF"/>
                </a:solidFill>
                <a:latin typeface="Courier New"/>
              </a:rPr>
              <a:t>RQ3 —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36392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AF5"/>
                </a:solidFill>
                <a:latin typeface="Calibri"/>
              </a:rPr>
              <a:t>Does evidence validation reduce false positives?
→ Raw LLM claims vs validated findings (rejected counts tracked)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724912"/>
            <a:ext cx="5532120" cy="114300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8163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9EFF"/>
                </a:solidFill>
                <a:latin typeface="Courier New"/>
              </a:rPr>
              <a:t>RQ4 —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136392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AF5"/>
                </a:solidFill>
                <a:latin typeface="Calibri"/>
              </a:rPr>
              <a:t>Does execution-based verification improve repair correctness?
→ Template vs LLM patch verification success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77639"/>
            <a:ext cx="11548872" cy="384048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40690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4872" y="406907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40690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40690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40690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ABF"/>
                </a:solidFill>
                <a:latin typeface="Calibri"/>
              </a:rPr>
              <a:t>F1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361688"/>
            <a:ext cx="11548872" cy="411480"/>
          </a:xfrm>
          <a:prstGeom prst="rect">
            <a:avLst/>
          </a:prstGeom>
          <a:solidFill>
            <a:srgbClr val="09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445312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D3EE"/>
                </a:solidFill>
                <a:latin typeface="Courier New"/>
              </a:rPr>
              <a:t>static_only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4872" y="4453127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AF5"/>
                </a:solidFill>
                <a:latin typeface="Calibri"/>
              </a:rPr>
              <a:t>Parsing → Static →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4531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44531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44531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773168"/>
            <a:ext cx="11548872" cy="4114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486460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D3EE"/>
                </a:solidFill>
                <a:latin typeface="Courier New"/>
              </a:rPr>
              <a:t>llm_only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4872" y="4864607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AF5"/>
                </a:solidFill>
                <a:latin typeface="Calibri"/>
              </a:rPr>
              <a:t>Parsing → Repo-review LLM → Grounding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48646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8646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2" y="48646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184648"/>
            <a:ext cx="11548872" cy="411480"/>
          </a:xfrm>
          <a:prstGeom prst="rect">
            <a:avLst/>
          </a:prstGeom>
          <a:solidFill>
            <a:srgbClr val="09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5276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D3EE"/>
                </a:solidFill>
                <a:latin typeface="Courier New"/>
              </a:rPr>
              <a:t>static_llm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04872" y="527608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AF5"/>
                </a:solidFill>
                <a:latin typeface="Calibri"/>
              </a:rPr>
              <a:t>Static → Per-candidate 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5276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5592" y="5276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5276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596127"/>
            <a:ext cx="11548872" cy="4114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568756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D3EE"/>
                </a:solidFill>
                <a:latin typeface="Courier New"/>
              </a:rPr>
              <a:t>repoverix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4872" y="5687567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AF5"/>
                </a:solidFill>
                <a:latin typeface="Calibri"/>
              </a:rPr>
              <a:t>Full pipeline (all stages)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568756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568756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2" y="568756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F"/>
                </a:solidFill>
                <a:latin typeface="Calibri"/>
              </a:rPr>
              <a:t>TBD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6053327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9ABF"/>
                </a:solidFill>
                <a:latin typeface="Calibri"/>
              </a:rPr>
              <a:t>* Awaiting real benchmark runs — no numbers are fabricated.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09 — DEMO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End-to-End Audit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44752"/>
            <a:ext cx="11274552" cy="713232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402336" cy="40233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1848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Sign Up &amp; Upload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3794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Log in to the Next.js UI. Upload the demo ZIP or connect a GitHub repo via shallow clone.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459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F9EFF"/>
                </a:solidFill>
                <a:latin typeface="Courier New"/>
              </a:rPr>
              <a:t>POST /api/v1/repositories/upload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21992"/>
            <a:ext cx="11274552" cy="713232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402336" cy="40233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3957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86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Start a Scan (Choose Config)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1518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Select one of four experimental configurations. Orchestrator begins ingestion → parsing → LLM →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231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F9EFF"/>
                </a:solidFill>
                <a:latin typeface="Courier New"/>
              </a:rPr>
              <a:t>POST /api/v1/scans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99232"/>
            <a:ext cx="11274552" cy="713232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154680"/>
            <a:ext cx="402336" cy="40233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17296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063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Review Findings &amp;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39242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Open a finding: full evidence chain, severity (CRITICAL→LOW), confidence score, exact file/line, VERIFIED status.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2004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F9EFF"/>
                </a:solidFill>
                <a:latin typeface="Courier New"/>
              </a:rPr>
              <a:t>GET /api/v1/scans/{id}/findings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76472"/>
            <a:ext cx="11274552" cy="713232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931920"/>
            <a:ext cx="402336" cy="40233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95020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40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Generate Fix → Inspect Diff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16966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Deterministic template tried first; LLM fallback if no match. Unified diff shown in the UI for 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977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F9EFF"/>
                </a:solidFill>
                <a:latin typeface="Courier New"/>
              </a:rPr>
              <a:t>POST /api/v1/findings/{id}/generate-fix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53712"/>
            <a:ext cx="11274552" cy="713232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709160"/>
            <a:ext cx="402336" cy="40233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72744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17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Verify Fix → Watch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4690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Docker applies patch, runs tests, runs re-analysis. Live logs, per-test results, VERIFIED REPAIR / REPAIR_FAILED.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7548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F9EFF"/>
                </a:solidFill>
                <a:latin typeface="Courier New"/>
              </a:rPr>
              <a:t>POST /api/v1/patches/{id}/verify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30952"/>
            <a:ext cx="11274552" cy="713232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486400"/>
            <a:ext cx="402336" cy="40233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550468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394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Download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72414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ABF"/>
                </a:solidFill>
                <a:latin typeface="Calibri"/>
              </a:rPr>
              <a:t>Export full scan report as JSON or Markdown with findings, evidence chains, and reproducibility metadata.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55321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F9EFF"/>
                </a:solidFill>
                <a:latin typeface="Courier New"/>
              </a:rPr>
              <a:t>GET /api/v1/scans/{id}/report?format=markdown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10 —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566928"/>
            <a:ext cx="182880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98448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9ABF"/>
                </a:solidFill>
                <a:latin typeface="Calibri"/>
              </a:rPr>
              <a:t>RepoVeriX is an MVP. The modular architecture is designed for extensibility — each module has a clear seam.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01368"/>
            <a:ext cx="3657600" cy="210312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93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🔌  GitHub App / PR Auditing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68296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Auto-trigger audits on pull requests.
Inline comments on diff lines with evidence chains.
Block merges on VERIFIED findings.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849624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7" y="1801368"/>
            <a:ext cx="3657600" cy="210312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9293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🔁  CI/CD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368296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Pipeline plugin for GitHub Actions, GitLab CI.
Job queue (Celery/Redis) to replace in-process scheduler
for parallel scans at scale.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7" y="3849624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7575" y="1801368"/>
            <a:ext cx="3657600" cy="210312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9293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💻  IDE Extension /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368296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VS Code extension or MCP server for real-time findings as you type.
Inline quick-fix suggestions with evidence preview.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5" y="3849624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105656"/>
            <a:ext cx="3657600" cy="210312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33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🌐  More 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72584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Extend tree-sitter support to Java, Rust, Go, C/C++.
Language-specific rule sets.
Cross-language taint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153912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78807" y="4105656"/>
            <a:ext cx="3657600" cy="210312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4233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🔍  Semantic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672584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Embedding-based code search for cross-repo patterns.
Vulnerability-database correlation (NVD/CVE).
Deeper inter-procedural data-flow analysis.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8807" y="6153912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4105656"/>
            <a:ext cx="3657600" cy="2103120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233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👥  Team 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672584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  <a:latin typeface="Calibri"/>
              </a:rPr>
              <a:t>Multi-user workspaces, finding assignment,
audit comments, approval workflows,
continuous monitoring dashboards.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7575" y="6153912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457200"/>
            <a:ext cx="8531352" cy="36576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F9EFF"/>
                </a:solidFill>
                <a:latin typeface="Courier New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7528" y="548640"/>
            <a:ext cx="1463040" cy="36576"/>
          </a:xfrm>
          <a:prstGeom prst="rect">
            <a:avLst/>
          </a:prstGeom>
          <a:solidFill>
            <a:srgbClr val="4F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Evidence-grounded.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AC7FF"/>
                </a:solidFill>
                <a:latin typeface="Calibri"/>
              </a:rPr>
              <a:t>Execution-verified.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8256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F9EFF"/>
                </a:solidFill>
                <a:latin typeface="Calibri"/>
              </a:rPr>
              <a:t>RepoVeriX.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ABF"/>
                </a:solidFill>
                <a:latin typeface="Calibri"/>
              </a:rPr>
              <a:t>A research prototype proving that combining repository-level context, deterministic static analysis,
LLM reasoning, and Docker-based verification produces more reliable code auditing than any single approach.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858768"/>
            <a:ext cx="1997964" cy="292608"/>
          </a:xfrm>
          <a:prstGeom prst="rect">
            <a:avLst/>
          </a:prstGeom>
          <a:solidFill>
            <a:srgbClr val="071222"/>
          </a:solidFill>
          <a:ln w="9525">
            <a:solidFill>
              <a:srgbClr val="4F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3664" y="3877056"/>
            <a:ext cx="18882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9EFF"/>
                </a:solidFill>
                <a:latin typeface="Calibri"/>
              </a:rPr>
              <a:t>Next.js + 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1356" y="3858768"/>
            <a:ext cx="1805940" cy="292608"/>
          </a:xfrm>
          <a:prstGeom prst="rect">
            <a:avLst/>
          </a:prstGeom>
          <a:solidFill>
            <a:srgbClr val="071222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46220" y="3877056"/>
            <a:ext cx="16962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Evidence Chains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61888" y="3858768"/>
            <a:ext cx="1997964" cy="292608"/>
          </a:xfrm>
          <a:prstGeom prst="rect">
            <a:avLst/>
          </a:prstGeom>
          <a:solidFill>
            <a:srgbClr val="071222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3877056"/>
            <a:ext cx="18882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  <a:latin typeface="Calibri"/>
              </a:rPr>
              <a:t>Docker Sandboxing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4444" y="3858768"/>
            <a:ext cx="2189988" cy="292608"/>
          </a:xfrm>
          <a:prstGeom prst="rect">
            <a:avLst/>
          </a:prstGeom>
          <a:solidFill>
            <a:srgbClr val="071222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9308" y="3877056"/>
            <a:ext cx="20802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Tree-sitter Parsing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343400"/>
            <a:ext cx="3017520" cy="1024128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416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ABF"/>
                </a:solidFill>
                <a:latin typeface="Calibri"/>
              </a:rP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817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C7FF"/>
                </a:solidFill>
                <a:latin typeface="Calibri"/>
              </a:rPr>
              <a:t>RepoVeriX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4343400"/>
            <a:ext cx="3017520" cy="1024128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416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ABF"/>
                </a:solidFill>
                <a:latin typeface="Calibri"/>
              </a:rP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6817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C7FF"/>
                </a:solidFill>
                <a:latin typeface="Calibri"/>
              </a:rPr>
              <a:t>Research Prototype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4343400"/>
            <a:ext cx="3017520" cy="1024128"/>
          </a:xfrm>
          <a:prstGeom prst="rect">
            <a:avLst/>
          </a:prstGeom>
          <a:solidFill>
            <a:srgbClr val="0D1526"/>
          </a:solidFill>
          <a:ln w="9525">
            <a:solidFill>
              <a:srgbClr val="1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4416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ABF"/>
                </a:solidFill>
                <a:latin typeface="Calibri"/>
              </a:rPr>
              <a:t>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6817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C7FF"/>
                </a:solidFill>
                <a:latin typeface="Calibri"/>
              </a:rPr>
              <a:t>Next.js · FastAPI · 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A4565"/>
                </a:solidFill>
                <a:latin typeface="Calibri"/>
              </a:rPr>
              <a:t>The LLM proposes. Evidence and execution verify.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2A4565"/>
                </a:solidFill>
                <a:latin typeface="Courier New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